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17" r:id="rId5"/>
    <p:sldId id="307" r:id="rId6"/>
    <p:sldId id="318" r:id="rId7"/>
    <p:sldId id="319" r:id="rId8"/>
    <p:sldId id="330" r:id="rId9"/>
    <p:sldId id="320" r:id="rId10"/>
    <p:sldId id="33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32" r:id="rId19"/>
    <p:sldId id="329" r:id="rId20"/>
    <p:sldId id="33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405" autoAdjust="0"/>
  </p:normalViewPr>
  <p:slideViewPr>
    <p:cSldViewPr snapToGrid="0">
      <p:cViewPr>
        <p:scale>
          <a:sx n="81" d="100"/>
          <a:sy n="81" d="100"/>
        </p:scale>
        <p:origin x="24" y="26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AB79-5860-21E0-0CC4-EC444AC1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E5C70-0E65-E590-35C5-5C11FABCE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E6F9F-1CCF-06D9-CCC5-201AD382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A726-2ACA-9B84-9FBA-E65FFF2C6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897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4C4D-2043-AA65-25DC-501CFB42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D820A-3BC3-4E87-8C90-7BC4DB238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35FC0-CC81-2D03-B58D-70C1E3147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6C5D-7E64-6BF4-B08D-62495A257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8616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A5E0-388B-9CA4-1674-5E514AC0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5CBEC-AF5F-DB65-4169-1E2E67535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BDBF4-FDC2-70FE-61BC-4906BA555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E4B0-BB5E-D987-34AB-402E0C0FE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3736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56E35-6155-EA95-F584-378784B4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B117F-9480-6051-1065-289BB1193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E2761-BB9B-CA1C-9C55-95825539B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AC479-26BF-8328-FF82-C4B41B87D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741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4A8A-B198-A651-D396-9F7616E5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D70F8-7357-5A54-AEA8-B5D993221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C5A6-495B-A027-D467-2679959A9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34AF1-CD49-798F-FCFB-62F2C8C83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4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28B2-0B69-057D-2E61-8D860308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97F4E-F61B-B184-3F7C-F7F39CFEA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F1010-333A-D56E-0F93-EF6D848D0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A88CD-3476-EADD-3187-3035545E7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867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EB61-0EB7-75E2-3AB5-99410D4D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F4513-75E1-D2B4-6665-2E4AB4E2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80D07-76AD-47C1-32A8-3C9AE3AAF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8E14B-BB9D-F993-C64F-8B0FB0D40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7569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4060-0845-5D86-3888-F9BA4AB7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56754-1E10-2554-2E53-BC0BC0871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E25D4-32CB-F003-2FDF-3F54287A4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D438-7A41-693E-1A19-2598F91B0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4358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16DC-0475-D996-E337-590A621B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BB4FC-A1AB-36DC-9532-D7F9A8361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8F93D-3A4E-4AE2-D485-521943AB0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E0657-4899-0BE4-219B-E5A4039D7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775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CFAB-9891-6475-F35E-83AA9D09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721BB-0A9A-E342-9093-F58173CCD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892E9-9F97-9D58-46A2-6C07A7BAF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7E689-6339-81B7-9A5D-130EB1D7A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3326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F860-51B7-9B8A-3321-88DDA6B8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9C39B-1059-D417-DC01-F63B172DC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090EB-9175-25E8-E166-E9978C5C6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5218A-B66C-5E28-9B06-EF2AD3E60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759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3459-62D5-EA9E-E391-E0E2736E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7E064-7E7C-F217-84B0-53C0FA3EC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1F3C9-E4CE-9F26-219B-F66B88C24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0BC70-83C2-1FE0-920D-949A1EFE9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5227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DF3D-E6E0-A991-4FAB-5F46F42E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08315-B007-B803-74A9-E9C0F7B7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E4F5E-8CF9-A3F9-13F8-1BEA7CF22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B56D0-FF1E-BE95-121B-C31C53F8A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834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Attrition factors at Frito Lay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Moinak Ghosh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450375"/>
            <a:ext cx="5641848" cy="659642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887489-CB14-173C-15B1-4F5C8037024D}"/>
              </a:ext>
            </a:extLst>
          </p:cNvPr>
          <p:cNvSpPr txBox="1">
            <a:spLocks/>
          </p:cNvSpPr>
          <p:nvPr/>
        </p:nvSpPr>
        <p:spPr>
          <a:xfrm>
            <a:off x="1001466" y="1806054"/>
            <a:ext cx="10471751" cy="40078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domain knowledge to do an initial analysis</a:t>
            </a:r>
          </a:p>
          <a:p>
            <a:pPr lvl="1"/>
            <a:r>
              <a:rPr lang="en-US" dirty="0"/>
              <a:t>Compartmentalize by Department and Roles for e.g.</a:t>
            </a:r>
          </a:p>
          <a:p>
            <a:pPr lvl="1"/>
            <a:r>
              <a:rPr lang="en-US" dirty="0"/>
              <a:t>Look for signs of common reasons for attrition</a:t>
            </a:r>
          </a:p>
          <a:p>
            <a:r>
              <a:rPr lang="en-US" dirty="0"/>
              <a:t>Check for correlations within the dataset to uncover additional factors</a:t>
            </a:r>
          </a:p>
          <a:p>
            <a:pPr lvl="1"/>
            <a:r>
              <a:rPr lang="en-US" dirty="0"/>
              <a:t>Consider all numeric and non-numeric data</a:t>
            </a:r>
          </a:p>
          <a:p>
            <a:pPr lvl="1"/>
            <a:r>
              <a:rPr lang="en-US" dirty="0"/>
              <a:t>For example, compensation items are not always the driving factors for attrition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68D7-879F-E83E-017B-9764491E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034EBAA-8E2E-0155-3F14-720965F4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450375"/>
            <a:ext cx="8057692" cy="659642"/>
          </a:xfrm>
        </p:spPr>
        <p:txBody>
          <a:bodyPr/>
          <a:lstStyle/>
          <a:p>
            <a:r>
              <a:rPr lang="en-US" dirty="0"/>
              <a:t>Attrition Summary - Percentages</a:t>
            </a:r>
          </a:p>
        </p:txBody>
      </p:sp>
      <p:pic>
        <p:nvPicPr>
          <p:cNvPr id="10" name="Picture 9" descr="A graph of a graph of sales">
            <a:extLst>
              <a:ext uri="{FF2B5EF4-FFF2-40B4-BE49-F238E27FC236}">
                <a16:creationId xmlns:a16="http://schemas.microsoft.com/office/drawing/2014/main" id="{B6AD81D9-A78E-AE57-F084-BCA2C6416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253" y="1411089"/>
            <a:ext cx="7201524" cy="4713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E08A6C3E-6490-5726-EAAD-56EAD32E2F94}"/>
              </a:ext>
            </a:extLst>
          </p:cNvPr>
          <p:cNvSpPr txBox="1">
            <a:spLocks/>
          </p:cNvSpPr>
          <p:nvPr/>
        </p:nvSpPr>
        <p:spPr>
          <a:xfrm>
            <a:off x="353506" y="1454650"/>
            <a:ext cx="3756582" cy="4401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Sales has highest attrition percentage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B467E3A2-D54A-F09C-4453-CFF1AFFB3D4A}"/>
              </a:ext>
            </a:extLst>
          </p:cNvPr>
          <p:cNvSpPr txBox="1">
            <a:spLocks/>
          </p:cNvSpPr>
          <p:nvPr/>
        </p:nvSpPr>
        <p:spPr>
          <a:xfrm>
            <a:off x="353506" y="1838748"/>
            <a:ext cx="3756582" cy="1215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Job level 1 has the highest attrition followed by job level 5</a:t>
            </a:r>
          </a:p>
          <a:p>
            <a:r>
              <a:rPr lang="en-US" sz="1800" dirty="0"/>
              <a:t>Mid-career employees seem less likely to leave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A919D606-A230-5234-AD73-B5142FE46460}"/>
              </a:ext>
            </a:extLst>
          </p:cNvPr>
          <p:cNvSpPr txBox="1">
            <a:spLocks/>
          </p:cNvSpPr>
          <p:nvPr/>
        </p:nvSpPr>
        <p:spPr>
          <a:xfrm>
            <a:off x="353506" y="3291305"/>
            <a:ext cx="3756582" cy="7622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job level 1 is career growth an issue? Let’s look further.</a:t>
            </a:r>
          </a:p>
        </p:txBody>
      </p:sp>
    </p:spTree>
    <p:extLst>
      <p:ext uri="{BB962C8B-B14F-4D97-AF65-F5344CB8AC3E}">
        <p14:creationId xmlns:p14="http://schemas.microsoft.com/office/powerpoint/2010/main" val="14806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8DD7-EC85-B985-1907-835CD740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FE9C85F-8A1A-B738-9195-ECEE8EB1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450375"/>
            <a:ext cx="8057692" cy="659642"/>
          </a:xfrm>
        </p:spPr>
        <p:txBody>
          <a:bodyPr/>
          <a:lstStyle/>
          <a:p>
            <a:r>
              <a:rPr lang="en-US" dirty="0"/>
              <a:t>Attrition Summary – Total Counts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C5E4D96F-532A-8747-04B1-0245F061B87F}"/>
              </a:ext>
            </a:extLst>
          </p:cNvPr>
          <p:cNvSpPr txBox="1">
            <a:spLocks/>
          </p:cNvSpPr>
          <p:nvPr/>
        </p:nvSpPr>
        <p:spPr>
          <a:xfrm>
            <a:off x="2441536" y="5121678"/>
            <a:ext cx="7762979" cy="11801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Looking at actual counts not percentages</a:t>
            </a:r>
          </a:p>
          <a:p>
            <a:r>
              <a:rPr lang="en-US" sz="1600" b="1" dirty="0"/>
              <a:t>R&amp;D has highest number of employees and attrition only slightly higher than Sales</a:t>
            </a:r>
          </a:p>
          <a:p>
            <a:r>
              <a:rPr lang="en-US" sz="1600" b="1" dirty="0"/>
              <a:t>R&amp;D employees are more likely to stay</a:t>
            </a:r>
          </a:p>
        </p:txBody>
      </p:sp>
      <p:pic>
        <p:nvPicPr>
          <p:cNvPr id="5" name="Picture 4" descr="A graph of a graph showing different colored squares">
            <a:extLst>
              <a:ext uri="{FF2B5EF4-FFF2-40B4-BE49-F238E27FC236}">
                <a16:creationId xmlns:a16="http://schemas.microsoft.com/office/drawing/2014/main" id="{FA8E6E42-A390-394E-302C-7D8A5EEB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089" y="1222292"/>
            <a:ext cx="4840663" cy="37871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pic>
        <p:nvPicPr>
          <p:cNvPr id="14" name="Picture 13" descr="A graph of a graph showing a graph of a number of people">
            <a:extLst>
              <a:ext uri="{FF2B5EF4-FFF2-40B4-BE49-F238E27FC236}">
                <a16:creationId xmlns:a16="http://schemas.microsoft.com/office/drawing/2014/main" id="{C0821A33-2B4C-F3B2-DA7F-68CB8B7AA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580" y="1222292"/>
            <a:ext cx="4840663" cy="37871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4345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1697-817D-DAE3-245D-A0B2A7FE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EFAC667-F955-310B-F12D-7344E4A2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450375"/>
            <a:ext cx="8057692" cy="659642"/>
          </a:xfrm>
        </p:spPr>
        <p:txBody>
          <a:bodyPr/>
          <a:lstStyle/>
          <a:p>
            <a:r>
              <a:rPr lang="en-US" dirty="0"/>
              <a:t>Attrition Details – By Job Role, Level - 1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880DB9AD-1307-7078-CFB7-44BDB3854B6B}"/>
              </a:ext>
            </a:extLst>
          </p:cNvPr>
          <p:cNvSpPr txBox="1">
            <a:spLocks/>
          </p:cNvSpPr>
          <p:nvPr/>
        </p:nvSpPr>
        <p:spPr>
          <a:xfrm>
            <a:off x="1192484" y="5722065"/>
            <a:ext cx="8286163" cy="5184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Job Level 1 is most affected: “Sales Representative” is the maximum across groups.</a:t>
            </a:r>
          </a:p>
        </p:txBody>
      </p:sp>
      <p:pic>
        <p:nvPicPr>
          <p:cNvPr id="3" name="Picture 2" descr="A graph of a bar chart">
            <a:extLst>
              <a:ext uri="{FF2B5EF4-FFF2-40B4-BE49-F238E27FC236}">
                <a16:creationId xmlns:a16="http://schemas.microsoft.com/office/drawing/2014/main" id="{EC6F74B1-A8FB-D16C-72FC-808AD53DF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109" y="1128968"/>
            <a:ext cx="7295776" cy="44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23B5-4924-54DA-7885-BFA7D2C4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097CABF-7B51-4F0A-16BA-E829ABD2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450375"/>
            <a:ext cx="9174768" cy="659642"/>
          </a:xfrm>
        </p:spPr>
        <p:txBody>
          <a:bodyPr/>
          <a:lstStyle/>
          <a:p>
            <a:r>
              <a:rPr lang="en-US" dirty="0"/>
              <a:t>Attrition Details – By Job Role, Other levels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730AF173-B59E-9E5A-E7B7-EDA16DE0E87A}"/>
              </a:ext>
            </a:extLst>
          </p:cNvPr>
          <p:cNvSpPr txBox="1">
            <a:spLocks/>
          </p:cNvSpPr>
          <p:nvPr/>
        </p:nvSpPr>
        <p:spPr>
          <a:xfrm>
            <a:off x="490193" y="1454650"/>
            <a:ext cx="3926266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“Sales Executives” are also affected at other levels</a:t>
            </a:r>
          </a:p>
          <a:p>
            <a:r>
              <a:rPr lang="en-US" sz="1800" dirty="0"/>
              <a:t>R&amp;D has a broader spread of attrition across roles but mostly at job level 3</a:t>
            </a:r>
          </a:p>
          <a:p>
            <a:endParaRPr lang="en-US" sz="1800" dirty="0"/>
          </a:p>
          <a:p>
            <a:r>
              <a:rPr lang="en-US" sz="1800" dirty="0"/>
              <a:t>Note: No “Sales representatives” at job levels &gt; 1. This is then could be a mostly junior role.</a:t>
            </a:r>
          </a:p>
        </p:txBody>
      </p:sp>
      <p:pic>
        <p:nvPicPr>
          <p:cNvPr id="16" name="Picture 15" descr="A graph of different levels">
            <a:extLst>
              <a:ext uri="{FF2B5EF4-FFF2-40B4-BE49-F238E27FC236}">
                <a16:creationId xmlns:a16="http://schemas.microsoft.com/office/drawing/2014/main" id="{D7B9EF1D-85F7-C1CF-A3E6-A176A79F0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20" y="1329180"/>
            <a:ext cx="7159655" cy="47846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0958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97CB-09C3-70BF-2960-A10CFC18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B2815A-61B6-2632-8309-F7FD7D91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7317"/>
            <a:ext cx="8057692" cy="659642"/>
          </a:xfrm>
        </p:spPr>
        <p:txBody>
          <a:bodyPr/>
          <a:lstStyle/>
          <a:p>
            <a:r>
              <a:rPr lang="en-US" dirty="0"/>
              <a:t>Attrition Analysis – Looking at job levels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F765453A-9581-A8B1-1A83-CBCAA5D0E213}"/>
              </a:ext>
            </a:extLst>
          </p:cNvPr>
          <p:cNvSpPr txBox="1">
            <a:spLocks/>
          </p:cNvSpPr>
          <p:nvPr/>
        </p:nvSpPr>
        <p:spPr>
          <a:xfrm>
            <a:off x="735291" y="1454650"/>
            <a:ext cx="10327064" cy="4259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Let’s look at Job Level 3 in R&amp;D and Job Level 1 in Sales.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724C95FC-E908-B0FB-ED0F-AD58F9C35AE3}"/>
              </a:ext>
            </a:extLst>
          </p:cNvPr>
          <p:cNvSpPr txBox="1">
            <a:spLocks/>
          </p:cNvSpPr>
          <p:nvPr/>
        </p:nvSpPr>
        <p:spPr>
          <a:xfrm>
            <a:off x="735291" y="2856317"/>
            <a:ext cx="10327064" cy="1249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 dirty="0"/>
          </a:p>
          <a:p>
            <a:r>
              <a:rPr lang="en-US" sz="2000" dirty="0"/>
              <a:t>Sales Executives also have attrition but much less. The attrition percent increases with level.</a:t>
            </a:r>
          </a:p>
          <a:p>
            <a:pPr lvl="1"/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This can be a career growth path issue for these two sales roles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A5258E-DECD-CB2F-A0C7-E830ECB8112C}"/>
              </a:ext>
            </a:extLst>
          </p:cNvPr>
          <p:cNvGrpSpPr/>
          <p:nvPr/>
        </p:nvGrpSpPr>
        <p:grpSpPr>
          <a:xfrm>
            <a:off x="736868" y="1934849"/>
            <a:ext cx="10327064" cy="1249055"/>
            <a:chOff x="736868" y="1934849"/>
            <a:chExt cx="10327064" cy="1249055"/>
          </a:xfrm>
        </p:grpSpPr>
        <p:sp>
          <p:nvSpPr>
            <p:cNvPr id="2" name="Content Placeholder 13">
              <a:extLst>
                <a:ext uri="{FF2B5EF4-FFF2-40B4-BE49-F238E27FC236}">
                  <a16:creationId xmlns:a16="http://schemas.microsoft.com/office/drawing/2014/main" id="{18BDC8AC-E678-99C3-C6B7-1E281C6A69F8}"/>
                </a:ext>
              </a:extLst>
            </p:cNvPr>
            <p:cNvSpPr txBox="1">
              <a:spLocks/>
            </p:cNvSpPr>
            <p:nvPr/>
          </p:nvSpPr>
          <p:spPr>
            <a:xfrm>
              <a:off x="736868" y="2568583"/>
              <a:ext cx="10327064" cy="61532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/>
              <a:r>
                <a:rPr lang="en-US" sz="1600" dirty="0"/>
                <a:t>Possibly the junior Sales Representatives either leave or get promoted</a:t>
              </a:r>
            </a:p>
            <a:p>
              <a:pPr lvl="1"/>
              <a:r>
                <a:rPr lang="en-US" sz="1600" dirty="0"/>
                <a:t>Sales Executive appears to be the next role as no such role is present at job level 1.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9294D50-FBDE-39F5-7847-0F15DA1C3585}"/>
                </a:ext>
              </a:extLst>
            </p:cNvPr>
            <p:cNvSpPr/>
            <p:nvPr/>
          </p:nvSpPr>
          <p:spPr>
            <a:xfrm>
              <a:off x="1362174" y="1934850"/>
              <a:ext cx="3137556" cy="5420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Only 3 Sales Representatives</a:t>
              </a:r>
            </a:p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at Job Levels &gt; 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7DEE06-C639-34E8-B21F-F95B91907839}"/>
                </a:ext>
              </a:extLst>
            </p:cNvPr>
            <p:cNvSpPr/>
            <p:nvPr/>
          </p:nvSpPr>
          <p:spPr>
            <a:xfrm>
              <a:off x="4752681" y="1934849"/>
              <a:ext cx="3137556" cy="5420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No Sales Executives</a:t>
              </a:r>
            </a:p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at Job Level 1</a:t>
              </a:r>
            </a:p>
          </p:txBody>
        </p:sp>
      </p:grp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AECDECE5-43B7-7EE1-5F40-C6E6BECEB517}"/>
              </a:ext>
            </a:extLst>
          </p:cNvPr>
          <p:cNvSpPr txBox="1">
            <a:spLocks/>
          </p:cNvSpPr>
          <p:nvPr/>
        </p:nvSpPr>
        <p:spPr>
          <a:xfrm>
            <a:off x="740002" y="3975746"/>
            <a:ext cx="10327064" cy="4173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Let’s look at attrition counts for Sales Managers, job level 3.</a:t>
            </a:r>
          </a:p>
          <a:p>
            <a:pPr lvl="1"/>
            <a:endParaRPr lang="en-US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87C8B3-8C6A-669A-8ADC-5E14B389E324}"/>
              </a:ext>
            </a:extLst>
          </p:cNvPr>
          <p:cNvGrpSpPr/>
          <p:nvPr/>
        </p:nvGrpSpPr>
        <p:grpSpPr>
          <a:xfrm>
            <a:off x="744720" y="4454153"/>
            <a:ext cx="10327064" cy="1211356"/>
            <a:chOff x="744720" y="4454153"/>
            <a:chExt cx="10327064" cy="121135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9432AB4-E933-F16A-FDF2-AB4A7AA9957F}"/>
                </a:ext>
              </a:extLst>
            </p:cNvPr>
            <p:cNvSpPr/>
            <p:nvPr/>
          </p:nvSpPr>
          <p:spPr>
            <a:xfrm>
              <a:off x="1362174" y="4454154"/>
              <a:ext cx="3137556" cy="5420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18 Sales Managers across job levels 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FE806E-E7E8-F975-C97F-CF499F37595F}"/>
                </a:ext>
              </a:extLst>
            </p:cNvPr>
            <p:cNvSpPr/>
            <p:nvPr/>
          </p:nvSpPr>
          <p:spPr>
            <a:xfrm>
              <a:off x="4752681" y="4454153"/>
              <a:ext cx="3137556" cy="5420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10000"/>
                    </a:schemeClr>
                  </a:solidFill>
                  <a:latin typeface="Abadi" panose="020B0604020104020204" pitchFamily="34" charset="0"/>
                </a:rPr>
                <a:t>Only 2 Sales Managers have quit in the sample</a:t>
              </a:r>
            </a:p>
          </p:txBody>
        </p:sp>
        <p:sp>
          <p:nvSpPr>
            <p:cNvPr id="18" name="Content Placeholder 13">
              <a:extLst>
                <a:ext uri="{FF2B5EF4-FFF2-40B4-BE49-F238E27FC236}">
                  <a16:creationId xmlns:a16="http://schemas.microsoft.com/office/drawing/2014/main" id="{B2A5D532-3E06-6A97-5061-17496BC3900B}"/>
                </a:ext>
              </a:extLst>
            </p:cNvPr>
            <p:cNvSpPr txBox="1">
              <a:spLocks/>
            </p:cNvSpPr>
            <p:nvPr/>
          </p:nvSpPr>
          <p:spPr>
            <a:xfrm>
              <a:off x="744720" y="5016121"/>
              <a:ext cx="10327064" cy="64938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/>
              <a:r>
                <a:rPr lang="en-US" sz="1600" dirty="0"/>
                <a:t>So, only 18 managers with very little attrition.</a:t>
              </a:r>
            </a:p>
            <a:p>
              <a:pPr lvl="1"/>
              <a:r>
                <a:rPr lang="en-US" sz="1600" b="1" dirty="0"/>
                <a:t>Growth path could indeed be an issue in this sample.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25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4916-B9EB-4491-AC2B-974497B4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61DF7F6-C018-3794-6016-D4A6740A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899" y="457317"/>
            <a:ext cx="9575407" cy="659642"/>
          </a:xfrm>
        </p:spPr>
        <p:txBody>
          <a:bodyPr/>
          <a:lstStyle/>
          <a:p>
            <a:r>
              <a:rPr lang="en-US" dirty="0"/>
              <a:t>Numeric Correlations</a:t>
            </a:r>
          </a:p>
        </p:txBody>
      </p:sp>
      <p:pic>
        <p:nvPicPr>
          <p:cNvPr id="13" name="Picture 12" descr="A graph with blue dots and red text">
            <a:extLst>
              <a:ext uri="{FF2B5EF4-FFF2-40B4-BE49-F238E27FC236}">
                <a16:creationId xmlns:a16="http://schemas.microsoft.com/office/drawing/2014/main" id="{376752F2-9202-39FB-4397-9AD3EC81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433" y="1263192"/>
            <a:ext cx="6645333" cy="51280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49D5B6-ACB8-D1DB-3B0C-AAD28BC19183}"/>
              </a:ext>
            </a:extLst>
          </p:cNvPr>
          <p:cNvCxnSpPr>
            <a:cxnSpLocks/>
          </p:cNvCxnSpPr>
          <p:nvPr/>
        </p:nvCxnSpPr>
        <p:spPr>
          <a:xfrm>
            <a:off x="5849329" y="3139129"/>
            <a:ext cx="433161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3BF25CE9-DA91-9C00-8A2F-E1353E913F37}"/>
              </a:ext>
            </a:extLst>
          </p:cNvPr>
          <p:cNvSpPr txBox="1">
            <a:spLocks/>
          </p:cNvSpPr>
          <p:nvPr/>
        </p:nvSpPr>
        <p:spPr>
          <a:xfrm>
            <a:off x="532611" y="1454650"/>
            <a:ext cx="4166647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Pairwise Pearson correlations. Attrition underlined.</a:t>
            </a:r>
          </a:p>
          <a:p>
            <a:r>
              <a:rPr lang="en-US" sz="1800" dirty="0"/>
              <a:t>Inverse correlations seen with several items like </a:t>
            </a:r>
            <a:r>
              <a:rPr lang="en-US" sz="1800" dirty="0" err="1"/>
              <a:t>JobInvolveMent</a:t>
            </a:r>
            <a:r>
              <a:rPr lang="en-US" sz="1800" dirty="0"/>
              <a:t>, </a:t>
            </a:r>
            <a:r>
              <a:rPr lang="en-US" sz="1800" dirty="0" err="1"/>
              <a:t>StockOptionLevel</a:t>
            </a:r>
            <a:r>
              <a:rPr lang="en-US" sz="1800" dirty="0"/>
              <a:t> etc. – Seems obvious</a:t>
            </a:r>
          </a:p>
          <a:p>
            <a:r>
              <a:rPr lang="en-US" sz="1800" dirty="0"/>
              <a:t>Larger Stock Options will result in less attrition for example.</a:t>
            </a:r>
          </a:p>
          <a:p>
            <a:r>
              <a:rPr lang="en-US" sz="1800" dirty="0"/>
              <a:t>Top numeric correlations:</a:t>
            </a:r>
          </a:p>
          <a:p>
            <a:pPr lvl="1"/>
            <a:r>
              <a:rPr lang="en-US" sz="1400" b="1" dirty="0" err="1"/>
              <a:t>JobInvolvement</a:t>
            </a:r>
            <a:endParaRPr lang="en-US" sz="1400" b="1" dirty="0"/>
          </a:p>
          <a:p>
            <a:pPr lvl="1"/>
            <a:r>
              <a:rPr lang="en-US" sz="1400" b="1" dirty="0" err="1"/>
              <a:t>TotalWorkingYears</a:t>
            </a:r>
            <a:endParaRPr lang="en-US" sz="1400" b="1" dirty="0"/>
          </a:p>
          <a:p>
            <a:pPr lvl="1"/>
            <a:r>
              <a:rPr lang="en-US" sz="1400" b="1" dirty="0" err="1"/>
              <a:t>JobLevel</a:t>
            </a:r>
            <a:endParaRPr lang="en-US" sz="1400" b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067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804E5-8EF4-1E2A-7743-22FBDC3F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A279349-9991-7428-2A4B-1990B554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899" y="457317"/>
            <a:ext cx="10060889" cy="659642"/>
          </a:xfrm>
        </p:spPr>
        <p:txBody>
          <a:bodyPr/>
          <a:lstStyle/>
          <a:p>
            <a:r>
              <a:rPr lang="en-US" dirty="0"/>
              <a:t>Non-Numeric Correlations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AD7C69-D884-613F-557E-14FE1601DA70}"/>
              </a:ext>
            </a:extLst>
          </p:cNvPr>
          <p:cNvCxnSpPr>
            <a:cxnSpLocks/>
          </p:cNvCxnSpPr>
          <p:nvPr/>
        </p:nvCxnSpPr>
        <p:spPr>
          <a:xfrm>
            <a:off x="5835190" y="3181546"/>
            <a:ext cx="433161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6240277F-9DA9-C0CE-AC30-8C65F65700A9}"/>
              </a:ext>
            </a:extLst>
          </p:cNvPr>
          <p:cNvSpPr txBox="1">
            <a:spLocks/>
          </p:cNvSpPr>
          <p:nvPr/>
        </p:nvSpPr>
        <p:spPr>
          <a:xfrm>
            <a:off x="532610" y="1454650"/>
            <a:ext cx="4374041" cy="13168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Pairwise </a:t>
            </a:r>
            <a:r>
              <a:rPr lang="en-US" sz="1800" dirty="0" err="1"/>
              <a:t>Polychorric</a:t>
            </a:r>
            <a:r>
              <a:rPr lang="en-US" sz="1800" dirty="0"/>
              <a:t> correlations. Attrition underlined.</a:t>
            </a:r>
          </a:p>
          <a:p>
            <a:r>
              <a:rPr lang="en-US" sz="1800" dirty="0"/>
              <a:t>Positive correlations seen with </a:t>
            </a:r>
            <a:r>
              <a:rPr lang="en-US" sz="1800" dirty="0" err="1"/>
              <a:t>JobRole</a:t>
            </a:r>
            <a:r>
              <a:rPr lang="en-US" sz="1800" dirty="0"/>
              <a:t>, </a:t>
            </a:r>
            <a:r>
              <a:rPr lang="en-US" sz="1800" dirty="0" err="1"/>
              <a:t>MaritalStatus</a:t>
            </a:r>
            <a:r>
              <a:rPr lang="en-US" sz="1800" dirty="0"/>
              <a:t> and </a:t>
            </a:r>
            <a:r>
              <a:rPr lang="en-US" sz="1800" dirty="0" err="1"/>
              <a:t>OverTime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3" name="Picture 2" descr="A graph with blue dots and red text">
            <a:extLst>
              <a:ext uri="{FF2B5EF4-FFF2-40B4-BE49-F238E27FC236}">
                <a16:creationId xmlns:a16="http://schemas.microsoft.com/office/drawing/2014/main" id="{9AD6F366-90A9-F863-6A44-9ADC17D9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715" y="1272620"/>
            <a:ext cx="6408565" cy="523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DEDDA4-78EF-400D-C14F-DEDC4C8B62ED}"/>
              </a:ext>
            </a:extLst>
          </p:cNvPr>
          <p:cNvCxnSpPr>
            <a:cxnSpLocks/>
          </p:cNvCxnSpPr>
          <p:nvPr/>
        </p:nvCxnSpPr>
        <p:spPr>
          <a:xfrm>
            <a:off x="5359138" y="2672503"/>
            <a:ext cx="500563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D29BACB0-CB3A-6C49-52BA-4AE6B828AFBE}"/>
              </a:ext>
            </a:extLst>
          </p:cNvPr>
          <p:cNvSpPr txBox="1">
            <a:spLocks/>
          </p:cNvSpPr>
          <p:nvPr/>
        </p:nvSpPr>
        <p:spPr>
          <a:xfrm>
            <a:off x="532609" y="2724131"/>
            <a:ext cx="4374041" cy="1126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Correlation with Marital Status is interesting!</a:t>
            </a:r>
          </a:p>
          <a:p>
            <a:pPr lvl="1"/>
            <a:r>
              <a:rPr lang="en-US" sz="1400" dirty="0"/>
              <a:t>The column factor levels are Divorced, Married and Single.</a:t>
            </a:r>
          </a:p>
          <a:p>
            <a:pPr lvl="1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So, Single employees are more likely to leave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222050E9-F489-FAF2-FDFF-46EE16CB0003}"/>
              </a:ext>
            </a:extLst>
          </p:cNvPr>
          <p:cNvSpPr txBox="1">
            <a:spLocks/>
          </p:cNvSpPr>
          <p:nvPr/>
        </p:nvSpPr>
        <p:spPr>
          <a:xfrm>
            <a:off x="532609" y="3850849"/>
            <a:ext cx="4374041" cy="14894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OverTime</a:t>
            </a:r>
            <a:r>
              <a:rPr lang="en-US" sz="1800" dirty="0"/>
              <a:t> seems to be a strong contributory factor.</a:t>
            </a:r>
          </a:p>
          <a:p>
            <a:pPr lvl="1"/>
            <a:r>
              <a:rPr lang="en-US" sz="1400" dirty="0"/>
              <a:t>Column factors levels are No, Yes.</a:t>
            </a:r>
          </a:p>
          <a:p>
            <a:pPr lvl="1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So, employees subject to overtime are likely to leave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847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8DA53-6085-48CC-5BE1-8387DA52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A03849-4479-DF0A-1952-2DBF6CAD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899" y="457317"/>
            <a:ext cx="10060889" cy="659642"/>
          </a:xfrm>
        </p:spPr>
        <p:txBody>
          <a:bodyPr/>
          <a:lstStyle/>
          <a:p>
            <a:r>
              <a:rPr lang="en-US" dirty="0"/>
              <a:t>Looking at Marital Status</a:t>
            </a:r>
          </a:p>
        </p:txBody>
      </p:sp>
      <p:pic>
        <p:nvPicPr>
          <p:cNvPr id="14" name="Picture 13" descr="A graph of different colored bars">
            <a:extLst>
              <a:ext uri="{FF2B5EF4-FFF2-40B4-BE49-F238E27FC236}">
                <a16:creationId xmlns:a16="http://schemas.microsoft.com/office/drawing/2014/main" id="{BE89CEB2-9856-7CA7-C947-DC7592FD3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565" y="1234911"/>
            <a:ext cx="6729082" cy="51234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C0FF470-EE57-840E-FDC1-30A6818A852B}"/>
              </a:ext>
            </a:extLst>
          </p:cNvPr>
          <p:cNvSpPr txBox="1">
            <a:spLocks/>
          </p:cNvSpPr>
          <p:nvPr/>
        </p:nvSpPr>
        <p:spPr>
          <a:xfrm>
            <a:off x="532611" y="1454650"/>
            <a:ext cx="4143084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Single Employees have highest percentage of attrition across groups</a:t>
            </a:r>
          </a:p>
          <a:p>
            <a:endParaRPr lang="en-US" sz="1800" dirty="0"/>
          </a:p>
          <a:p>
            <a:r>
              <a:rPr lang="en-US" sz="1800" dirty="0"/>
              <a:t>Surprisingly, Human Resources has high attrition for Married!</a:t>
            </a:r>
          </a:p>
          <a:p>
            <a:pPr lvl="1"/>
            <a:r>
              <a:rPr lang="en-US" sz="1400" dirty="0"/>
              <a:t>Has no attrition for single.</a:t>
            </a:r>
          </a:p>
          <a:p>
            <a:pPr lvl="1"/>
            <a:r>
              <a:rPr lang="en-US" sz="1400" dirty="0"/>
              <a:t>Open question: Is it a data issue?</a:t>
            </a:r>
          </a:p>
          <a:p>
            <a:endParaRPr lang="en-US" sz="1800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400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162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D4F6-2979-503B-65E5-16B5E4D8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33BD2A7-2D29-7777-FEDC-7D5CB66A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899" y="457317"/>
            <a:ext cx="10060889" cy="659642"/>
          </a:xfrm>
        </p:spPr>
        <p:txBody>
          <a:bodyPr/>
          <a:lstStyle/>
          <a:p>
            <a:r>
              <a:rPr lang="en-US" dirty="0"/>
              <a:t>Looking at </a:t>
            </a:r>
            <a:r>
              <a:rPr lang="en-US" dirty="0" err="1"/>
              <a:t>OverTime</a:t>
            </a:r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8A8CF949-FED4-343A-22BD-A789715E65D8}"/>
              </a:ext>
            </a:extLst>
          </p:cNvPr>
          <p:cNvSpPr txBox="1">
            <a:spLocks/>
          </p:cNvSpPr>
          <p:nvPr/>
        </p:nvSpPr>
        <p:spPr>
          <a:xfrm>
            <a:off x="532611" y="1454650"/>
            <a:ext cx="4143084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Employees subject to overtime are more likely to leave.</a:t>
            </a:r>
          </a:p>
          <a:p>
            <a:r>
              <a:rPr lang="en-US" sz="1800" dirty="0"/>
              <a:t>Senior Sales employees do not like overtime at all!</a:t>
            </a:r>
          </a:p>
          <a:p>
            <a:pPr marL="0" indent="0">
              <a:buNone/>
            </a:pPr>
            <a:endParaRPr lang="en-US" sz="1800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400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1800" dirty="0"/>
          </a:p>
        </p:txBody>
      </p:sp>
      <p:pic>
        <p:nvPicPr>
          <p:cNvPr id="3" name="Picture 2" descr="A graph of sales and sales">
            <a:extLst>
              <a:ext uri="{FF2B5EF4-FFF2-40B4-BE49-F238E27FC236}">
                <a16:creationId xmlns:a16="http://schemas.microsoft.com/office/drawing/2014/main" id="{DA63C2D5-9E62-CF2A-AB99-FF53E965F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695" y="1183066"/>
            <a:ext cx="6645889" cy="519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6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778-BABC-7558-4D9E-304E14C4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C3560-6D80-D61B-5361-02D34561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7317"/>
            <a:ext cx="8057692" cy="659642"/>
          </a:xfrm>
        </p:spPr>
        <p:txBody>
          <a:bodyPr/>
          <a:lstStyle/>
          <a:p>
            <a:r>
              <a:rPr lang="en-US" dirty="0"/>
              <a:t>KNN Model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F5F78FC2-C9D8-471E-DD82-83FCD20DC795}"/>
              </a:ext>
            </a:extLst>
          </p:cNvPr>
          <p:cNvSpPr txBox="1">
            <a:spLocks/>
          </p:cNvSpPr>
          <p:nvPr/>
        </p:nvSpPr>
        <p:spPr>
          <a:xfrm>
            <a:off x="433635" y="1454650"/>
            <a:ext cx="4138367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Confusion matrix for KNN model to predict Attrition with k = 5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classifications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0   1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0 219   2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1  29  11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Accuracy : 0.8812          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95% CI : (0.8357, 0.9179)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Sensitivity : 0.8831          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Specificity : 0.8462</a:t>
            </a:r>
          </a:p>
          <a:p>
            <a:pPr marL="0" indent="0" latinLnBrk="1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US" sz="2000" dirty="0"/>
              <a:t>KNN graph shows variance of the parameters with different seeds.</a:t>
            </a:r>
          </a:p>
          <a:p>
            <a:pPr marL="0" indent="0" latinLnBrk="1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 descr="A graph showing a number of seeds">
            <a:extLst>
              <a:ext uri="{FF2B5EF4-FFF2-40B4-BE49-F238E27FC236}">
                <a16:creationId xmlns:a16="http://schemas.microsoft.com/office/drawing/2014/main" id="{D1CFCC94-8ABA-D497-C6E6-8E4E00851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468" y="1256229"/>
            <a:ext cx="7126781" cy="46943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827021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0EB30-F689-9F09-E61A-C8319BE8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53B1D7D-8C78-ACFB-6627-89FED9A3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7317"/>
            <a:ext cx="8057692" cy="659642"/>
          </a:xfrm>
        </p:spPr>
        <p:txBody>
          <a:bodyPr/>
          <a:lstStyle/>
          <a:p>
            <a:r>
              <a:rPr lang="en-US" dirty="0"/>
              <a:t>Naïve Bayes Model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8E6F2954-AB05-EAFD-D7FE-D6FC2837F9F5}"/>
              </a:ext>
            </a:extLst>
          </p:cNvPr>
          <p:cNvSpPr txBox="1">
            <a:spLocks/>
          </p:cNvSpPr>
          <p:nvPr/>
        </p:nvSpPr>
        <p:spPr>
          <a:xfrm>
            <a:off x="433635" y="1454650"/>
            <a:ext cx="4138367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Confusion matrix for Naïve Bayes model to predict Attrition</a:t>
            </a:r>
            <a:r>
              <a:rPr lang="en-US" dirty="0"/>
              <a:t>  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0   1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0 202  14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1  21  24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Accuracy : 0.8659          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95% CI : (0.8185, 0.9048)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Sensitivity : 0.9058          </a:t>
            </a:r>
          </a:p>
          <a:p>
            <a:pPr marL="0" indent="0" latinLnBrk="1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Specificity : 0.6316</a:t>
            </a:r>
          </a:p>
          <a:p>
            <a:pPr marL="0" indent="0" latinLnBrk="1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 descr="A graph showing different colored lines">
            <a:extLst>
              <a:ext uri="{FF2B5EF4-FFF2-40B4-BE49-F238E27FC236}">
                <a16:creationId xmlns:a16="http://schemas.microsoft.com/office/drawing/2014/main" id="{F4EE5782-9762-3D72-9571-E40114EF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230" y="1190244"/>
            <a:ext cx="7178633" cy="46943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15197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EFD4-9025-F1A2-F783-E165B894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A3E9B8F-9117-A0FE-C2C2-45CBBF74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7317"/>
            <a:ext cx="8057692" cy="659642"/>
          </a:xfrm>
        </p:spPr>
        <p:txBody>
          <a:bodyPr/>
          <a:lstStyle/>
          <a:p>
            <a:r>
              <a:rPr lang="en-US" dirty="0"/>
              <a:t>KNN Evaluation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0D65713A-04AA-495E-DC90-536EB4B03182}"/>
              </a:ext>
            </a:extLst>
          </p:cNvPr>
          <p:cNvSpPr txBox="1">
            <a:spLocks/>
          </p:cNvSpPr>
          <p:nvPr/>
        </p:nvSpPr>
        <p:spPr>
          <a:xfrm>
            <a:off x="532610" y="1116959"/>
            <a:ext cx="10704141" cy="51612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classifications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0   1      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Sensitivity : 88%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0 219   2           Specificity : 84%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1  29  11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Sensitivity:</a:t>
            </a:r>
            <a:r>
              <a:rPr lang="en-US" sz="1800" dirty="0"/>
              <a:t> It is estimated that this model will predict 88% of those that will not leave (no attrition)</a:t>
            </a:r>
          </a:p>
          <a:p>
            <a:pPr marL="0" indent="0">
              <a:buNone/>
            </a:pPr>
            <a:r>
              <a:rPr lang="en-US" sz="1800" b="1" dirty="0"/>
              <a:t>Specificity:</a:t>
            </a:r>
            <a:r>
              <a:rPr lang="en-US" sz="1800" dirty="0"/>
              <a:t> It is estimated that this model will predict 84% of those that will leave (attrition)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cost associated with this model 2 * 2.5 * 6390 + 29 * 200 + 11 * 200 = $39950</a:t>
            </a:r>
          </a:p>
        </p:txBody>
      </p:sp>
    </p:spTree>
    <p:extLst>
      <p:ext uri="{BB962C8B-B14F-4D97-AF65-F5344CB8AC3E}">
        <p14:creationId xmlns:p14="http://schemas.microsoft.com/office/powerpoint/2010/main" val="149198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EF03-6E0F-F9AC-8FAF-14BA62AF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795A29-D43D-8668-E36F-171BBFDF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7317"/>
            <a:ext cx="8057692" cy="659642"/>
          </a:xfrm>
        </p:spPr>
        <p:txBody>
          <a:bodyPr/>
          <a:lstStyle/>
          <a:p>
            <a:r>
              <a:rPr lang="en-US" dirty="0"/>
              <a:t>Naïve Bayes Evaluation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2362BF74-DFA4-E497-E013-AEB866BAB6B0}"/>
              </a:ext>
            </a:extLst>
          </p:cNvPr>
          <p:cNvSpPr txBox="1">
            <a:spLocks/>
          </p:cNvSpPr>
          <p:nvPr/>
        </p:nvSpPr>
        <p:spPr>
          <a:xfrm>
            <a:off x="532610" y="1116959"/>
            <a:ext cx="10704141" cy="51612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classifications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0   1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Sensitivity : 90%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0 202  14                Specificity : 63%</a:t>
            </a:r>
          </a:p>
          <a:p>
            <a:pPr marL="0" indent="0" latinLnBrk="1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1  21  24</a:t>
            </a:r>
          </a:p>
          <a:p>
            <a:pPr marL="0" indent="0" latinLnBrk="1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Sensitivity:</a:t>
            </a:r>
            <a:r>
              <a:rPr lang="en-US" sz="1800" dirty="0"/>
              <a:t> It is estimated that this model will predict 90% of those that will not leave (no attrition)</a:t>
            </a:r>
          </a:p>
          <a:p>
            <a:pPr marL="0" indent="0">
              <a:buNone/>
            </a:pPr>
            <a:r>
              <a:rPr lang="en-US" sz="1800" b="1" dirty="0"/>
              <a:t>Specificity:</a:t>
            </a:r>
            <a:r>
              <a:rPr lang="en-US" sz="1800" dirty="0"/>
              <a:t> It is estimated that this model will predict 63% of those that will leave (attrition)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cost associated with this model 14 * 2.5 * 6390 + 21 * 200 + 24 * 200 = $232650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0 – No Attrition</a:t>
            </a:r>
          </a:p>
          <a:p>
            <a:pPr marL="0" indent="0">
              <a:buNone/>
            </a:pPr>
            <a:r>
              <a:rPr lang="en-US" sz="1800" dirty="0"/>
              <a:t>1 – Attrition</a:t>
            </a:r>
          </a:p>
          <a:p>
            <a:pPr marL="0" indent="0">
              <a:buNone/>
            </a:pPr>
            <a:r>
              <a:rPr lang="en-US" sz="1800" dirty="0"/>
              <a:t>So, it is better to be able to detect employees leaving as opposed to those not leaving. A greater specificity is more important for this model. From that perspective the KNN model is a lower cost model.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73015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A3C0-3FE3-CB6B-4D04-4B9AA661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7699EB3-DEF0-7105-AC56-C278B642404C}"/>
              </a:ext>
            </a:extLst>
          </p:cNvPr>
          <p:cNvSpPr txBox="1">
            <a:spLocks/>
          </p:cNvSpPr>
          <p:nvPr/>
        </p:nvSpPr>
        <p:spPr>
          <a:xfrm>
            <a:off x="1001467" y="450375"/>
            <a:ext cx="10042034" cy="659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Conclusions</a:t>
            </a:r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BA807751-7A47-AB93-360D-4FDA2607D767}"/>
              </a:ext>
            </a:extLst>
          </p:cNvPr>
          <p:cNvSpPr txBox="1">
            <a:spLocks/>
          </p:cNvSpPr>
          <p:nvPr/>
        </p:nvSpPr>
        <p:spPr>
          <a:xfrm>
            <a:off x="867264" y="1454650"/>
            <a:ext cx="10360060" cy="4616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Sales department has the largest percentage of attritions.</a:t>
            </a:r>
          </a:p>
          <a:p>
            <a:r>
              <a:rPr lang="en-US" sz="1800" dirty="0"/>
              <a:t>R&amp;D has a larger absolute number of people leaving but overall employee count is high.</a:t>
            </a:r>
          </a:p>
          <a:p>
            <a:r>
              <a:rPr lang="en-US" sz="1800" dirty="0"/>
              <a:t>Sales attritions are concentrated in Level 1 and Level 5 employees</a:t>
            </a:r>
          </a:p>
          <a:p>
            <a:r>
              <a:rPr lang="en-US" sz="1800" dirty="0"/>
              <a:t>Some of the indicative reasons from the sample could be:</a:t>
            </a:r>
          </a:p>
          <a:p>
            <a:pPr lvl="1"/>
            <a:r>
              <a:rPr lang="en-US" sz="1400" dirty="0"/>
              <a:t>Career growth</a:t>
            </a:r>
          </a:p>
          <a:p>
            <a:pPr lvl="1"/>
            <a:r>
              <a:rPr lang="en-US" sz="1400" dirty="0"/>
              <a:t>Overtime challenges</a:t>
            </a:r>
          </a:p>
          <a:p>
            <a:pPr lvl="1"/>
            <a:r>
              <a:rPr lang="en-US" sz="1400" dirty="0"/>
              <a:t>Job Level and Marital status</a:t>
            </a:r>
          </a:p>
          <a:p>
            <a:r>
              <a:rPr lang="en-US" sz="1800" dirty="0"/>
              <a:t>Married people are more likely to stay back</a:t>
            </a:r>
          </a:p>
          <a:p>
            <a:r>
              <a:rPr lang="en-US" sz="1800" dirty="0"/>
              <a:t>Level 5 attrition in Sales looks strongly correlated to Overtime</a:t>
            </a:r>
          </a:p>
          <a:p>
            <a:r>
              <a:rPr lang="en-US" sz="1800" dirty="0"/>
              <a:t>KNN requires a few selected explanatory variables to be effective</a:t>
            </a:r>
          </a:p>
          <a:p>
            <a:r>
              <a:rPr lang="en-US" sz="1800" dirty="0"/>
              <a:t>Naïve Bayes works well with more explanatory variables unlike KNN</a:t>
            </a:r>
          </a:p>
        </p:txBody>
      </p:sp>
    </p:spTree>
    <p:extLst>
      <p:ext uri="{BB962C8B-B14F-4D97-AF65-F5344CB8AC3E}">
        <p14:creationId xmlns:p14="http://schemas.microsoft.com/office/powerpoint/2010/main" val="355672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2B6-FCF8-98C5-2513-B8F1EA44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49EFA1-B2B1-14C2-EEAB-6425BD03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Questions ?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Moinak Ghosh</a:t>
            </a:r>
          </a:p>
        </p:txBody>
      </p:sp>
    </p:spTree>
    <p:extLst>
      <p:ext uri="{BB962C8B-B14F-4D97-AF65-F5344CB8AC3E}">
        <p14:creationId xmlns:p14="http://schemas.microsoft.com/office/powerpoint/2010/main" val="23679056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{C9909A80-8A88-485E-A0F3-2741EFFEF6CE}TF1ed9553b-00c4-4092-846a-c8f7f2908f3beecd942f_win32-8e33096c3cfc</Template>
  <TotalTime>10549</TotalTime>
  <Words>997</Words>
  <Application>Microsoft Office PowerPoint</Application>
  <PresentationFormat>Widescreen</PresentationFormat>
  <Paragraphs>142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Abadi</vt:lpstr>
      <vt:lpstr>Arial</vt:lpstr>
      <vt:lpstr>Calibri</vt:lpstr>
      <vt:lpstr>Courier New</vt:lpstr>
      <vt:lpstr>Gill Sans Nova Light</vt:lpstr>
      <vt:lpstr>Sagona Book</vt:lpstr>
      <vt:lpstr>Custom</vt:lpstr>
      <vt:lpstr>Attrition factors at Frito Lay  Moinak Ghosh</vt:lpstr>
      <vt:lpstr>Approach</vt:lpstr>
      <vt:lpstr>Attrition Summary - Percentages</vt:lpstr>
      <vt:lpstr>Attrition Summary – Total Counts</vt:lpstr>
      <vt:lpstr>Attrition Details – By Job Role, Level - 1</vt:lpstr>
      <vt:lpstr>Attrition Details – By Job Role, Other levels</vt:lpstr>
      <vt:lpstr>Attrition Analysis – Looking at job levels</vt:lpstr>
      <vt:lpstr>Numeric Correlations</vt:lpstr>
      <vt:lpstr>Non-Numeric Correlations</vt:lpstr>
      <vt:lpstr>Looking at Marital Status</vt:lpstr>
      <vt:lpstr>Looking at OverTime</vt:lpstr>
      <vt:lpstr>KNN Model</vt:lpstr>
      <vt:lpstr>Naïve Bayes Model</vt:lpstr>
      <vt:lpstr>KNN Evaluation</vt:lpstr>
      <vt:lpstr>Naïve Bayes Evaluation</vt:lpstr>
      <vt:lpstr>PowerPoint Presentation</vt:lpstr>
      <vt:lpstr>Questions ?  Moinak Ghosh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Moinak Ghosh</dc:creator>
  <cp:lastModifiedBy>Moinak Ghosh</cp:lastModifiedBy>
  <cp:revision>57</cp:revision>
  <dcterms:created xsi:type="dcterms:W3CDTF">2025-10-20T16:19:49Z</dcterms:created>
  <dcterms:modified xsi:type="dcterms:W3CDTF">2025-10-28T00:08:52Z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